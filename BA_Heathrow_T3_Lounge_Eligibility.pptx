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1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 edge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CE0E2D"/>
          </a:solidFill>
        </p:spPr>
      </p:sp>
      <p:sp>
        <p:nvSpPr>
          <p:cNvPr id="3" name="Gold rule"/>
          <p:cNvSpPr/>
          <p:nvPr/>
        </p:nvSpPr>
        <p:spPr>
          <a:xfrm>
            <a:off x="762000" y="3175000"/>
            <a:ext cx="1524000" cy="50800"/>
          </a:xfrm>
          <a:prstGeom prst="rect">
            <a:avLst/>
          </a:prstGeom>
          <a:solidFill>
            <a:srgbClr val="B8944E"/>
          </a:solidFill>
        </p:spPr>
      </p:sp>
      <p:sp>
        <p:nvSpPr>
          <p:cNvPr id="4" name="Text 2"/>
          <p:cNvSpPr txBox="1"/>
          <p:nvPr/>
        </p:nvSpPr>
        <p:spPr>
          <a:xfrm>
            <a:off x="762000" y="1143000"/>
            <a:ext cx="76200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8944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BRITISH AIRWAYS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1714500"/>
            <a:ext cx="76200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Heathrow Terminal 3 Lounge Eligibility Model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34290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8D2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Science Strategic Capacity Planning | British Airways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57150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Prepared by: Shumail khan|Data Science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16000"/>
          </a:xfrm>
          <a:prstGeom prst="rect">
            <a:avLst/>
          </a:prstGeom>
          <a:solidFill>
            <a:srgbClr val="012169"/>
          </a:solidFill>
        </p:spPr>
      </p:sp>
      <p:sp>
        <p:nvSpPr>
          <p:cNvPr id="3" name="Header accent"/>
          <p:cNvSpPr/>
          <p:nvPr/>
        </p:nvSpPr>
        <p:spPr>
          <a:xfrm>
            <a:off x="0" y="1016000"/>
            <a:ext cx="9144000" cy="63500"/>
          </a:xfrm>
          <a:prstGeom prst="rect">
            <a:avLst/>
          </a:prstGeom>
          <a:solidFill>
            <a:srgbClr val="CE0E2D"/>
          </a:solidFill>
        </p:spPr>
      </p:sp>
      <p:sp>
        <p:nvSpPr>
          <p:cNvPr id="4" name="Text 2"/>
          <p:cNvSpPr txBox="1"/>
          <p:nvPr/>
        </p:nvSpPr>
        <p:spPr>
          <a:xfrm>
            <a:off x="444500" y="228600"/>
            <a:ext cx="8255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 &amp; Flight Grouping Strategy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44500" y="64135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2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British Airways | Data Science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55000" y="64135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2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Card"/>
          <p:cNvSpPr/>
          <p:nvPr/>
        </p:nvSpPr>
        <p:spPr>
          <a:xfrm>
            <a:off x="444500" y="1333500"/>
            <a:ext cx="8255000" cy="1333500"/>
          </a:xfrm>
          <a:prstGeom prst="rect">
            <a:avLst/>
          </a:prstGeom>
          <a:solidFill>
            <a:srgbClr val="EEF2F8"/>
          </a:solidFill>
        </p:spPr>
      </p:sp>
      <p:sp>
        <p:nvSpPr>
          <p:cNvPr id="8" name="Card accent"/>
          <p:cNvSpPr/>
          <p:nvPr/>
        </p:nvSpPr>
        <p:spPr>
          <a:xfrm>
            <a:off x="444500" y="1333500"/>
            <a:ext cx="63500" cy="1333500"/>
          </a:xfrm>
          <a:prstGeom prst="rect">
            <a:avLst/>
          </a:prstGeom>
          <a:solidFill>
            <a:srgbClr val="CE0E2D"/>
          </a:solidFill>
        </p:spPr>
      </p:sp>
      <p:sp>
        <p:nvSpPr>
          <p:cNvPr id="9" name="Text 7"/>
          <p:cNvSpPr txBox="1"/>
          <p:nvPr/>
        </p:nvSpPr>
        <p:spPr>
          <a:xfrm>
            <a:off x="673100" y="1460500"/>
            <a:ext cx="7874000" cy="355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121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Objective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73100" y="1866900"/>
            <a:ext cx="78740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2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scalable and flexible lookup table model independent of specific flight numbers or aircraft types.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44500" y="2857500"/>
            <a:ext cx="8255000" cy="1333500"/>
          </a:xfrm>
          <a:prstGeom prst="rect">
            <a:avLst/>
          </a:prstGeom>
          <a:solidFill>
            <a:srgbClr val="EEF2F8"/>
          </a:solidFill>
        </p:spPr>
      </p:sp>
      <p:sp>
        <p:nvSpPr>
          <p:cNvPr id="12" name="Card accent"/>
          <p:cNvSpPr/>
          <p:nvPr/>
        </p:nvSpPr>
        <p:spPr>
          <a:xfrm>
            <a:off x="444500" y="2857500"/>
            <a:ext cx="63500" cy="1333500"/>
          </a:xfrm>
          <a:prstGeom prst="rect">
            <a:avLst/>
          </a:prstGeom>
          <a:solidFill>
            <a:srgbClr val="CE0E2D"/>
          </a:solidFill>
        </p:spPr>
      </p:sp>
      <p:sp>
        <p:nvSpPr>
          <p:cNvPr id="13" name="Text 11"/>
          <p:cNvSpPr txBox="1"/>
          <p:nvPr/>
        </p:nvSpPr>
        <p:spPr>
          <a:xfrm>
            <a:off x="673100" y="2984500"/>
            <a:ext cx="7874000" cy="355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121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Grouping Approach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73100" y="3390900"/>
            <a:ext cx="78740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2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Flights are categorized by HAUL (Short-haul vs Long-haul) and TIME_OF_DAY (Morning, Lunchtime, Afternoon, Evening).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44500" y="4381500"/>
            <a:ext cx="8255000" cy="1333500"/>
          </a:xfrm>
          <a:prstGeom prst="rect">
            <a:avLst/>
          </a:prstGeom>
          <a:solidFill>
            <a:srgbClr val="EEF2F8"/>
          </a:solidFill>
        </p:spPr>
      </p:sp>
      <p:sp>
        <p:nvSpPr>
          <p:cNvPr id="16" name="Card accent"/>
          <p:cNvSpPr/>
          <p:nvPr/>
        </p:nvSpPr>
        <p:spPr>
          <a:xfrm>
            <a:off x="444500" y="4381500"/>
            <a:ext cx="63500" cy="1333500"/>
          </a:xfrm>
          <a:prstGeom prst="rect">
            <a:avLst/>
          </a:prstGeom>
          <a:solidFill>
            <a:srgbClr val="CE0E2D"/>
          </a:solidFill>
        </p:spPr>
      </p:sp>
      <p:sp>
        <p:nvSpPr>
          <p:cNvPr id="17" name="Text 15"/>
          <p:cNvSpPr txBox="1"/>
          <p:nvPr/>
        </p:nvSpPr>
        <p:spPr>
          <a:xfrm>
            <a:off x="673100" y="4508500"/>
            <a:ext cx="7874000" cy="355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121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Value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73100" y="4914900"/>
            <a:ext cx="78740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2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Enables Airport Planning to estimate lounge demand for future flight schedules dynamically.</a:t>
            </a:r>
            <a:endParaRPr lang="en-US" sz="1400" dirty="0"/>
          </a:p>
        </p:txBody>
      </p:sp>
      <p:sp>
        <p:nvSpPr>
          <p:cNvPr id="19" name="Chip Short-haul"/>
          <p:cNvSpPr/>
          <p:nvPr/>
        </p:nvSpPr>
        <p:spPr>
          <a:xfrm>
            <a:off x="444500" y="5905500"/>
            <a:ext cx="1270000" cy="355600"/>
          </a:xfrm>
          <a:prstGeom prst="roundRect">
            <a:avLst>
              <a:gd name="adj" fmla="val 25714"/>
            </a:avLst>
          </a:prstGeom>
          <a:solidFill>
            <a:srgbClr val="012169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Short-haul</a:t>
            </a:r>
            <a:endParaRPr lang="en-US" sz="1200" dirty="0"/>
          </a:p>
        </p:txBody>
      </p:sp>
      <p:sp>
        <p:nvSpPr>
          <p:cNvPr id="20" name="Chip Long-haul"/>
          <p:cNvSpPr/>
          <p:nvPr/>
        </p:nvSpPr>
        <p:spPr>
          <a:xfrm>
            <a:off x="1828800" y="5905500"/>
            <a:ext cx="1270000" cy="355600"/>
          </a:xfrm>
          <a:prstGeom prst="roundRect">
            <a:avLst>
              <a:gd name="adj" fmla="val 25714"/>
            </a:avLst>
          </a:prstGeom>
          <a:solidFill>
            <a:srgbClr val="012169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Long-haul</a:t>
            </a:r>
            <a:endParaRPr lang="en-US" sz="1200" dirty="0"/>
          </a:p>
        </p:txBody>
      </p:sp>
      <p:sp>
        <p:nvSpPr>
          <p:cNvPr id="21" name="Chip Morning"/>
          <p:cNvSpPr/>
          <p:nvPr/>
        </p:nvSpPr>
        <p:spPr>
          <a:xfrm>
            <a:off x="3213100" y="5905500"/>
            <a:ext cx="1270000" cy="355600"/>
          </a:xfrm>
          <a:prstGeom prst="roundRect">
            <a:avLst>
              <a:gd name="adj" fmla="val 25714"/>
            </a:avLst>
          </a:prstGeom>
          <a:solidFill>
            <a:srgbClr val="CE0E2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Morning</a:t>
            </a:r>
            <a:endParaRPr lang="en-US" sz="1200" dirty="0"/>
          </a:p>
        </p:txBody>
      </p:sp>
      <p:sp>
        <p:nvSpPr>
          <p:cNvPr id="22" name="Chip Lunchtime"/>
          <p:cNvSpPr/>
          <p:nvPr/>
        </p:nvSpPr>
        <p:spPr>
          <a:xfrm>
            <a:off x="4597400" y="5905500"/>
            <a:ext cx="1270000" cy="355600"/>
          </a:xfrm>
          <a:prstGeom prst="roundRect">
            <a:avLst>
              <a:gd name="adj" fmla="val 25714"/>
            </a:avLst>
          </a:prstGeom>
          <a:solidFill>
            <a:srgbClr val="CE0E2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Lunchtime</a:t>
            </a:r>
            <a:endParaRPr lang="en-US" sz="1200" dirty="0"/>
          </a:p>
        </p:txBody>
      </p:sp>
      <p:sp>
        <p:nvSpPr>
          <p:cNvPr id="23" name="Chip Afternoon"/>
          <p:cNvSpPr/>
          <p:nvPr/>
        </p:nvSpPr>
        <p:spPr>
          <a:xfrm>
            <a:off x="5981700" y="5905500"/>
            <a:ext cx="1270000" cy="355600"/>
          </a:xfrm>
          <a:prstGeom prst="roundRect">
            <a:avLst>
              <a:gd name="adj" fmla="val 25714"/>
            </a:avLst>
          </a:prstGeom>
          <a:solidFill>
            <a:srgbClr val="CE0E2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Afternoon</a:t>
            </a:r>
            <a:endParaRPr lang="en-US" sz="1200" dirty="0"/>
          </a:p>
        </p:txBody>
      </p:sp>
      <p:sp>
        <p:nvSpPr>
          <p:cNvPr id="24" name="Chip Evening"/>
          <p:cNvSpPr/>
          <p:nvPr/>
        </p:nvSpPr>
        <p:spPr>
          <a:xfrm>
            <a:off x="7366000" y="5905500"/>
            <a:ext cx="1270000" cy="355600"/>
          </a:xfrm>
          <a:prstGeom prst="roundRect">
            <a:avLst>
              <a:gd name="adj" fmla="val 25714"/>
            </a:avLst>
          </a:prstGeom>
          <a:solidFill>
            <a:srgbClr val="CE0E2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16000"/>
          </a:xfrm>
          <a:prstGeom prst="rect">
            <a:avLst/>
          </a:prstGeom>
          <a:solidFill>
            <a:srgbClr val="012169"/>
          </a:solidFill>
        </p:spPr>
      </p:sp>
      <p:sp>
        <p:nvSpPr>
          <p:cNvPr id="3" name="Header accent"/>
          <p:cNvSpPr/>
          <p:nvPr/>
        </p:nvSpPr>
        <p:spPr>
          <a:xfrm>
            <a:off x="0" y="1016000"/>
            <a:ext cx="9144000" cy="63500"/>
          </a:xfrm>
          <a:prstGeom prst="rect">
            <a:avLst/>
          </a:prstGeom>
          <a:solidFill>
            <a:srgbClr val="CE0E2D"/>
          </a:solidFill>
        </p:spPr>
      </p:sp>
      <p:sp>
        <p:nvSpPr>
          <p:cNvPr id="4" name="Text 2"/>
          <p:cNvSpPr txBox="1"/>
          <p:nvPr/>
        </p:nvSpPr>
        <p:spPr>
          <a:xfrm>
            <a:off x="444500" y="228600"/>
            <a:ext cx="8255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Lookup Table &amp; Eligibility Assumptions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44500" y="64135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2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British Airways | Data Science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55000" y="64135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2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44500" y="1333500"/>
          <a:ext cx="8255000" cy="2603500"/>
        </p:xfrm>
        <a:graphic>
          <a:graphicData uri="http://schemas.openxmlformats.org/drawingml/2006/table">
            <a:tbl>
              <a:tblPr/>
              <a:tblGrid>
                <a:gridCol w="1270000"/>
                <a:gridCol w="1524000"/>
                <a:gridCol w="1397000"/>
                <a:gridCol w="1397000"/>
                <a:gridCol w="2667000"/>
              </a:tblGrid>
              <a:tr h="698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Haul Type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1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Tier 1 (Concorde Room)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1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Tier 2 (First Lounge)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1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Tier 3 (Club Lounge)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1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Rationale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169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82D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Short-haul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82D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0%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82D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5%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82D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20%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82D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frequent flyer and business volume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82D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Long-haul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82D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2-5%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82D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10-12%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82D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30%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82D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Higher proportion of premium seats &amp; elite members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Note box"/>
          <p:cNvSpPr/>
          <p:nvPr/>
        </p:nvSpPr>
        <p:spPr>
          <a:xfrm>
            <a:off x="444500" y="4381500"/>
            <a:ext cx="8255000" cy="1270000"/>
          </a:xfrm>
          <a:prstGeom prst="rect">
            <a:avLst/>
          </a:prstGeom>
          <a:solidFill>
            <a:srgbClr val="EEF2F8"/>
          </a:solidFill>
        </p:spPr>
      </p:sp>
      <p:sp>
        <p:nvSpPr>
          <p:cNvPr id="9" name="Note accent"/>
          <p:cNvSpPr/>
          <p:nvPr/>
        </p:nvSpPr>
        <p:spPr>
          <a:xfrm>
            <a:off x="444500" y="4381500"/>
            <a:ext cx="63500" cy="1270000"/>
          </a:xfrm>
          <a:prstGeom prst="rect">
            <a:avLst/>
          </a:prstGeom>
          <a:solidFill>
            <a:srgbClr val="B8944E"/>
          </a:solidFill>
        </p:spPr>
      </p:sp>
      <p:sp>
        <p:nvSpPr>
          <p:cNvPr id="10" name="Text 7"/>
          <p:cNvSpPr txBox="1"/>
          <p:nvPr/>
        </p:nvSpPr>
        <p:spPr>
          <a:xfrm>
            <a:off x="698500" y="4508500"/>
            <a:ext cx="7620000" cy="317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121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98500" y="4889500"/>
            <a:ext cx="78740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2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Tier 1 (Concorde Room) is modeled as a hypothetical capacity demand metric for T3 strategic planning.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16000"/>
          </a:xfrm>
          <a:prstGeom prst="rect">
            <a:avLst/>
          </a:prstGeom>
          <a:solidFill>
            <a:srgbClr val="012169"/>
          </a:solidFill>
        </p:spPr>
      </p:sp>
      <p:sp>
        <p:nvSpPr>
          <p:cNvPr id="3" name="Header accent"/>
          <p:cNvSpPr/>
          <p:nvPr/>
        </p:nvSpPr>
        <p:spPr>
          <a:xfrm>
            <a:off x="0" y="1016000"/>
            <a:ext cx="9144000" cy="63500"/>
          </a:xfrm>
          <a:prstGeom prst="rect">
            <a:avLst/>
          </a:prstGeom>
          <a:solidFill>
            <a:srgbClr val="CE0E2D"/>
          </a:solidFill>
        </p:spPr>
      </p:sp>
      <p:sp>
        <p:nvSpPr>
          <p:cNvPr id="4" name="Text 2"/>
          <p:cNvSpPr txBox="1"/>
          <p:nvPr/>
        </p:nvSpPr>
        <p:spPr>
          <a:xfrm>
            <a:off x="444500" y="228600"/>
            <a:ext cx="8255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Data Analysis &amp; Strategic Findings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44500" y="64135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2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British Airways | Data Science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55000" y="64135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2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44500" y="1244600"/>
            <a:ext cx="8255000" cy="33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121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from 20-Flight Sample Analysis</a:t>
            </a:r>
            <a:endParaRPr lang="en-US" sz="1600" dirty="0"/>
          </a:p>
        </p:txBody>
      </p:sp>
      <p:sp>
        <p:nvSpPr>
          <p:cNvPr id="8" name="KPI card"/>
          <p:cNvSpPr/>
          <p:nvPr/>
        </p:nvSpPr>
        <p:spPr>
          <a:xfrm>
            <a:off x="444500" y="1651000"/>
            <a:ext cx="2616200" cy="1778000"/>
          </a:xfrm>
          <a:prstGeom prst="rect">
            <a:avLst/>
          </a:prstGeom>
          <a:solidFill>
            <a:srgbClr val="EEF2F8"/>
          </a:solidFill>
        </p:spPr>
      </p:sp>
      <p:sp>
        <p:nvSpPr>
          <p:cNvPr id="9" name="KPI accent"/>
          <p:cNvSpPr/>
          <p:nvPr/>
        </p:nvSpPr>
        <p:spPr>
          <a:xfrm>
            <a:off x="444500" y="1651000"/>
            <a:ext cx="2616200" cy="76200"/>
          </a:xfrm>
          <a:prstGeom prst="rect">
            <a:avLst/>
          </a:prstGeom>
          <a:solidFill>
            <a:srgbClr val="B8944E"/>
          </a:solidFill>
        </p:spPr>
      </p:sp>
      <p:sp>
        <p:nvSpPr>
          <p:cNvPr id="10" name="Text 8"/>
          <p:cNvSpPr txBox="1"/>
          <p:nvPr/>
        </p:nvSpPr>
        <p:spPr>
          <a:xfrm>
            <a:off x="444500" y="1841500"/>
            <a:ext cx="26162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8944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44500" y="2641600"/>
            <a:ext cx="26162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21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Tier 1 Eligible Pax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44500" y="2946400"/>
            <a:ext cx="26162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2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Concorde Room Demand</a:t>
            </a:r>
            <a:endParaRPr lang="en-US" sz="1200" dirty="0"/>
          </a:p>
        </p:txBody>
      </p:sp>
      <p:sp>
        <p:nvSpPr>
          <p:cNvPr id="13" name="KPI card"/>
          <p:cNvSpPr/>
          <p:nvPr/>
        </p:nvSpPr>
        <p:spPr>
          <a:xfrm>
            <a:off x="3263900" y="1651000"/>
            <a:ext cx="2616200" cy="1778000"/>
          </a:xfrm>
          <a:prstGeom prst="rect">
            <a:avLst/>
          </a:prstGeom>
          <a:solidFill>
            <a:srgbClr val="EEF2F8"/>
          </a:solidFill>
        </p:spPr>
      </p:sp>
      <p:sp>
        <p:nvSpPr>
          <p:cNvPr id="14" name="KPI accent"/>
          <p:cNvSpPr/>
          <p:nvPr/>
        </p:nvSpPr>
        <p:spPr>
          <a:xfrm>
            <a:off x="3263900" y="1651000"/>
            <a:ext cx="2616200" cy="76200"/>
          </a:xfrm>
          <a:prstGeom prst="rect">
            <a:avLst/>
          </a:prstGeom>
          <a:solidFill>
            <a:srgbClr val="CE0E2D"/>
          </a:solidFill>
        </p:spPr>
      </p:sp>
      <p:sp>
        <p:nvSpPr>
          <p:cNvPr id="15" name="Text 13"/>
          <p:cNvSpPr txBox="1"/>
          <p:nvPr/>
        </p:nvSpPr>
        <p:spPr>
          <a:xfrm>
            <a:off x="3263900" y="1841500"/>
            <a:ext cx="26162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E0E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138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3263900" y="2641600"/>
            <a:ext cx="26162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21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Tier 2 Eligible Pax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63900" y="2946400"/>
            <a:ext cx="26162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2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Lounge Demand</a:t>
            </a:r>
            <a:endParaRPr lang="en-US" sz="1200" dirty="0"/>
          </a:p>
        </p:txBody>
      </p:sp>
      <p:sp>
        <p:nvSpPr>
          <p:cNvPr id="18" name="KPI card"/>
          <p:cNvSpPr/>
          <p:nvPr/>
        </p:nvSpPr>
        <p:spPr>
          <a:xfrm>
            <a:off x="6083300" y="1651000"/>
            <a:ext cx="2616200" cy="1778000"/>
          </a:xfrm>
          <a:prstGeom prst="rect">
            <a:avLst/>
          </a:prstGeom>
          <a:solidFill>
            <a:srgbClr val="EEF2F8"/>
          </a:solidFill>
        </p:spPr>
      </p:sp>
      <p:sp>
        <p:nvSpPr>
          <p:cNvPr id="19" name="KPI accent"/>
          <p:cNvSpPr/>
          <p:nvPr/>
        </p:nvSpPr>
        <p:spPr>
          <a:xfrm>
            <a:off x="6083300" y="1651000"/>
            <a:ext cx="2616200" cy="76200"/>
          </a:xfrm>
          <a:prstGeom prst="rect">
            <a:avLst/>
          </a:prstGeom>
          <a:solidFill>
            <a:srgbClr val="012169"/>
          </a:solidFill>
        </p:spPr>
      </p:sp>
      <p:sp>
        <p:nvSpPr>
          <p:cNvPr id="20" name="Text 18"/>
          <p:cNvSpPr txBox="1"/>
          <p:nvPr/>
        </p:nvSpPr>
        <p:spPr>
          <a:xfrm>
            <a:off x="6083300" y="1841500"/>
            <a:ext cx="26162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121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551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6083300" y="2641600"/>
            <a:ext cx="26162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21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Tier 3 Eligible Pax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083300" y="2946400"/>
            <a:ext cx="26162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2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Club Lounge Demand</a:t>
            </a:r>
            <a:endParaRPr lang="en-US" sz="1200" dirty="0"/>
          </a:p>
        </p:txBody>
      </p:sp>
      <p:sp>
        <p:nvSpPr>
          <p:cNvPr id="23" name="Recommendations panel"/>
          <p:cNvSpPr/>
          <p:nvPr/>
        </p:nvSpPr>
        <p:spPr>
          <a:xfrm>
            <a:off x="444500" y="3683000"/>
            <a:ext cx="8255000" cy="2603500"/>
          </a:xfrm>
          <a:prstGeom prst="rect">
            <a:avLst/>
          </a:prstGeom>
          <a:solidFill>
            <a:srgbClr val="012169"/>
          </a:solidFill>
        </p:spPr>
      </p:sp>
      <p:sp>
        <p:nvSpPr>
          <p:cNvPr id="24" name="Text 22"/>
          <p:cNvSpPr txBox="1"/>
          <p:nvPr/>
        </p:nvSpPr>
        <p:spPr>
          <a:xfrm>
            <a:off x="698500" y="3810000"/>
            <a:ext cx="7747000" cy="355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8944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Strategic Recommendations for British Airways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98500" y="4318000"/>
            <a:ext cx="7747000" cy="177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Optimize capacity during morning short-haul peaks and evening long-haul departures.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Re-evaluate Tier 1 space allocation if long-haul premium traffic increases at Terminal 3.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1476</Words>
  <Application>WPS Presentation</Application>
  <PresentationFormat>On-screen Show (16:9)</PresentationFormat>
  <Paragraphs>109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Heathrow Terminal 3 Lounge Eligibility Model</dc:title>
  <dc:creator>Data Science Team</dc:creator>
  <dc:subject>PptxGenJS Presentation</dc:subject>
  <cp:lastModifiedBy>Shumail Khan</cp:lastModifiedBy>
  <cp:revision>2</cp:revision>
  <dcterms:created xsi:type="dcterms:W3CDTF">2026-10-19T11:29:00Z</dcterms:created>
  <dcterms:modified xsi:type="dcterms:W3CDTF">2026-10-19T11:36:09Z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A7A17517168646B4A785969DBE06D122_12</vt:lpwstr>
  </property>
  <property fmtid="{D5CDD505-2E9C-101B-9397-08002B2CF9AE}" pid="3" name="KSOProductBuildVer">
    <vt:lpwstr>1033-12.1.0.29162</vt:lpwstr>
  </property>
</Properties>
</file>